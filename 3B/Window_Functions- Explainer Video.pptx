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1" r:id="rId4"/>
    <p:sldId id="262" r:id="rId5"/>
    <p:sldId id="263" r:id="rId6"/>
    <p:sldId id="265" r:id="rId7"/>
    <p:sldId id="26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ngsley Kpoku" userId="dd4bb83065c01be3" providerId="LiveId" clId="{89AC70A3-F0E5-4EC4-B824-4614FF064502}"/>
    <pc:docChg chg="custSel delSld modSld">
      <pc:chgData name="Kingsley Kpoku" userId="dd4bb83065c01be3" providerId="LiveId" clId="{89AC70A3-F0E5-4EC4-B824-4614FF064502}" dt="2026-10-01T21:19:54.760" v="33" actId="478"/>
      <pc:docMkLst>
        <pc:docMk/>
      </pc:docMkLst>
      <pc:sldChg chg="del">
        <pc:chgData name="Kingsley Kpoku" userId="dd4bb83065c01be3" providerId="LiveId" clId="{89AC70A3-F0E5-4EC4-B824-4614FF064502}" dt="2026-10-01T21:04:26.190" v="22" actId="47"/>
        <pc:sldMkLst>
          <pc:docMk/>
          <pc:sldMk cId="0" sldId="257"/>
        </pc:sldMkLst>
      </pc:sldChg>
      <pc:sldChg chg="del">
        <pc:chgData name="Kingsley Kpoku" userId="dd4bb83065c01be3" providerId="LiveId" clId="{89AC70A3-F0E5-4EC4-B824-4614FF064502}" dt="2026-10-01T21:04:27.702" v="23" actId="47"/>
        <pc:sldMkLst>
          <pc:docMk/>
          <pc:sldMk cId="0" sldId="258"/>
        </pc:sldMkLst>
      </pc:sldChg>
      <pc:sldChg chg="delSp modSp mod">
        <pc:chgData name="Kingsley Kpoku" userId="dd4bb83065c01be3" providerId="LiveId" clId="{89AC70A3-F0E5-4EC4-B824-4614FF064502}" dt="2026-10-01T21:19:54.760" v="33" actId="478"/>
        <pc:sldMkLst>
          <pc:docMk/>
          <pc:sldMk cId="0" sldId="259"/>
        </pc:sldMkLst>
        <pc:spChg chg="del">
          <ac:chgData name="Kingsley Kpoku" userId="dd4bb83065c01be3" providerId="LiveId" clId="{89AC70A3-F0E5-4EC4-B824-4614FF064502}" dt="2026-10-01T21:19:43.810" v="27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Kingsley Kpoku" userId="dd4bb83065c01be3" providerId="LiveId" clId="{89AC70A3-F0E5-4EC4-B824-4614FF064502}" dt="2026-10-01T21:19:42.444" v="26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Kingsley Kpoku" userId="dd4bb83065c01be3" providerId="LiveId" clId="{89AC70A3-F0E5-4EC4-B824-4614FF064502}" dt="2026-10-01T21:19:45.709" v="28" actId="478"/>
          <ac:spMkLst>
            <pc:docMk/>
            <pc:sldMk cId="0" sldId="259"/>
            <ac:spMk id="9" creationId="{00000000-0000-0000-0000-000000000000}"/>
          </ac:spMkLst>
        </pc:spChg>
        <pc:spChg chg="del mod">
          <ac:chgData name="Kingsley Kpoku" userId="dd4bb83065c01be3" providerId="LiveId" clId="{89AC70A3-F0E5-4EC4-B824-4614FF064502}" dt="2026-10-01T21:19:48.578" v="29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Kingsley Kpoku" userId="dd4bb83065c01be3" providerId="LiveId" clId="{89AC70A3-F0E5-4EC4-B824-4614FF064502}" dt="2026-10-01T21:19:51.865" v="31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Kingsley Kpoku" userId="dd4bb83065c01be3" providerId="LiveId" clId="{89AC70A3-F0E5-4EC4-B824-4614FF064502}" dt="2026-10-01T21:19:53.357" v="32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Kingsley Kpoku" userId="dd4bb83065c01be3" providerId="LiveId" clId="{89AC70A3-F0E5-4EC4-B824-4614FF064502}" dt="2026-10-01T21:19:50.538" v="30" actId="478"/>
          <ac:spMkLst>
            <pc:docMk/>
            <pc:sldMk cId="0" sldId="259"/>
            <ac:spMk id="15" creationId="{00000000-0000-0000-0000-000000000000}"/>
          </ac:spMkLst>
        </pc:spChg>
        <pc:spChg chg="del mod">
          <ac:chgData name="Kingsley Kpoku" userId="dd4bb83065c01be3" providerId="LiveId" clId="{89AC70A3-F0E5-4EC4-B824-4614FF064502}" dt="2026-10-01T21:19:54.760" v="33" actId="478"/>
          <ac:spMkLst>
            <pc:docMk/>
            <pc:sldMk cId="0" sldId="259"/>
            <ac:spMk id="16" creationId="{00000000-0000-0000-0000-000000000000}"/>
          </ac:spMkLst>
        </pc:spChg>
      </pc:sldChg>
      <pc:sldChg chg="del">
        <pc:chgData name="Kingsley Kpoku" userId="dd4bb83065c01be3" providerId="LiveId" clId="{89AC70A3-F0E5-4EC4-B824-4614FF064502}" dt="2026-10-01T21:02:27.043" v="6" actId="47"/>
        <pc:sldMkLst>
          <pc:docMk/>
          <pc:sldMk cId="0" sldId="260"/>
        </pc:sldMkLst>
      </pc:sldChg>
      <pc:sldChg chg="modSp mod">
        <pc:chgData name="Kingsley Kpoku" userId="dd4bb83065c01be3" providerId="LiveId" clId="{89AC70A3-F0E5-4EC4-B824-4614FF064502}" dt="2026-10-01T21:02:56.295" v="10" actId="14100"/>
        <pc:sldMkLst>
          <pc:docMk/>
          <pc:sldMk cId="0" sldId="261"/>
        </pc:sldMkLst>
        <pc:spChg chg="mod">
          <ac:chgData name="Kingsley Kpoku" userId="dd4bb83065c01be3" providerId="LiveId" clId="{89AC70A3-F0E5-4EC4-B824-4614FF064502}" dt="2026-10-01T21:02:56.295" v="10" actId="14100"/>
          <ac:spMkLst>
            <pc:docMk/>
            <pc:sldMk cId="0" sldId="261"/>
            <ac:spMk id="7" creationId="{00000000-0000-0000-0000-000000000000}"/>
          </ac:spMkLst>
        </pc:spChg>
        <pc:spChg chg="mod">
          <ac:chgData name="Kingsley Kpoku" userId="dd4bb83065c01be3" providerId="LiveId" clId="{89AC70A3-F0E5-4EC4-B824-4614FF064502}" dt="2026-10-01T21:02:42.652" v="9" actId="14100"/>
          <ac:spMkLst>
            <pc:docMk/>
            <pc:sldMk cId="0" sldId="261"/>
            <ac:spMk id="10" creationId="{00000000-0000-0000-0000-000000000000}"/>
          </ac:spMkLst>
        </pc:spChg>
      </pc:sldChg>
      <pc:sldChg chg="modSp mod">
        <pc:chgData name="Kingsley Kpoku" userId="dd4bb83065c01be3" providerId="LiveId" clId="{89AC70A3-F0E5-4EC4-B824-4614FF064502}" dt="2026-10-01T21:05:04.046" v="24" actId="20577"/>
        <pc:sldMkLst>
          <pc:docMk/>
          <pc:sldMk cId="0" sldId="262"/>
        </pc:sldMkLst>
        <pc:spChg chg="mod">
          <ac:chgData name="Kingsley Kpoku" userId="dd4bb83065c01be3" providerId="LiveId" clId="{89AC70A3-F0E5-4EC4-B824-4614FF064502}" dt="2026-10-01T21:05:04.046" v="24" actId="20577"/>
          <ac:spMkLst>
            <pc:docMk/>
            <pc:sldMk cId="0" sldId="262"/>
            <ac:spMk id="27" creationId="{00000000-0000-0000-0000-000000000000}"/>
          </ac:spMkLst>
        </pc:spChg>
      </pc:sldChg>
      <pc:sldChg chg="modSp mod">
        <pc:chgData name="Kingsley Kpoku" userId="dd4bb83065c01be3" providerId="LiveId" clId="{89AC70A3-F0E5-4EC4-B824-4614FF064502}" dt="2026-10-01T21:03:41.587" v="16" actId="14100"/>
        <pc:sldMkLst>
          <pc:docMk/>
          <pc:sldMk cId="0" sldId="263"/>
        </pc:sldMkLst>
        <pc:spChg chg="mod">
          <ac:chgData name="Kingsley Kpoku" userId="dd4bb83065c01be3" providerId="LiveId" clId="{89AC70A3-F0E5-4EC4-B824-4614FF064502}" dt="2026-10-01T21:03:41.587" v="16" actId="14100"/>
          <ac:spMkLst>
            <pc:docMk/>
            <pc:sldMk cId="0" sldId="263"/>
            <ac:spMk id="6" creationId="{00000000-0000-0000-0000-000000000000}"/>
          </ac:spMkLst>
        </pc:spChg>
        <pc:spChg chg="mod">
          <ac:chgData name="Kingsley Kpoku" userId="dd4bb83065c01be3" providerId="LiveId" clId="{89AC70A3-F0E5-4EC4-B824-4614FF064502}" dt="2026-10-01T21:03:22.550" v="11" actId="20577"/>
          <ac:spMkLst>
            <pc:docMk/>
            <pc:sldMk cId="0" sldId="263"/>
            <ac:spMk id="9" creationId="{00000000-0000-0000-0000-000000000000}"/>
          </ac:spMkLst>
        </pc:spChg>
        <pc:spChg chg="mod">
          <ac:chgData name="Kingsley Kpoku" userId="dd4bb83065c01be3" providerId="LiveId" clId="{89AC70A3-F0E5-4EC4-B824-4614FF064502}" dt="2026-10-01T21:03:37.714" v="15" actId="14100"/>
          <ac:spMkLst>
            <pc:docMk/>
            <pc:sldMk cId="0" sldId="263"/>
            <ac:spMk id="10" creationId="{00000000-0000-0000-0000-000000000000}"/>
          </ac:spMkLst>
        </pc:spChg>
        <pc:spChg chg="mod">
          <ac:chgData name="Kingsley Kpoku" userId="dd4bb83065c01be3" providerId="LiveId" clId="{89AC70A3-F0E5-4EC4-B824-4614FF064502}" dt="2026-10-01T21:03:25.187" v="12" actId="2057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Kingsley Kpoku" userId="dd4bb83065c01be3" providerId="LiveId" clId="{89AC70A3-F0E5-4EC4-B824-4614FF064502}" dt="2026-10-01T21:03:35.547" v="14" actId="14100"/>
          <ac:spMkLst>
            <pc:docMk/>
            <pc:sldMk cId="0" sldId="263"/>
            <ac:spMk id="14" creationId="{00000000-0000-0000-0000-000000000000}"/>
          </ac:spMkLst>
        </pc:spChg>
        <pc:spChg chg="mod">
          <ac:chgData name="Kingsley Kpoku" userId="dd4bb83065c01be3" providerId="LiveId" clId="{89AC70A3-F0E5-4EC4-B824-4614FF064502}" dt="2026-10-01T21:03:27.804" v="13" actId="20577"/>
          <ac:spMkLst>
            <pc:docMk/>
            <pc:sldMk cId="0" sldId="263"/>
            <ac:spMk id="17" creationId="{00000000-0000-0000-0000-000000000000}"/>
          </ac:spMkLst>
        </pc:spChg>
      </pc:sldChg>
      <pc:sldChg chg="modSp del mod">
        <pc:chgData name="Kingsley Kpoku" userId="dd4bb83065c01be3" providerId="LiveId" clId="{89AC70A3-F0E5-4EC4-B824-4614FF064502}" dt="2026-10-01T21:04:02.185" v="20" actId="47"/>
        <pc:sldMkLst>
          <pc:docMk/>
          <pc:sldMk cId="0" sldId="264"/>
        </pc:sldMkLst>
        <pc:spChg chg="mod">
          <ac:chgData name="Kingsley Kpoku" userId="dd4bb83065c01be3" providerId="LiveId" clId="{89AC70A3-F0E5-4EC4-B824-4614FF064502}" dt="2026-10-01T21:03:50.928" v="17" actId="20577"/>
          <ac:spMkLst>
            <pc:docMk/>
            <pc:sldMk cId="0" sldId="264"/>
            <ac:spMk id="8" creationId="{00000000-0000-0000-0000-000000000000}"/>
          </ac:spMkLst>
        </pc:spChg>
        <pc:spChg chg="mod">
          <ac:chgData name="Kingsley Kpoku" userId="dd4bb83065c01be3" providerId="LiveId" clId="{89AC70A3-F0E5-4EC4-B824-4614FF064502}" dt="2026-10-01T21:03:54.697" v="18" actId="20577"/>
          <ac:spMkLst>
            <pc:docMk/>
            <pc:sldMk cId="0" sldId="264"/>
            <ac:spMk id="12" creationId="{00000000-0000-0000-0000-000000000000}"/>
          </ac:spMkLst>
        </pc:spChg>
        <pc:spChg chg="mod">
          <ac:chgData name="Kingsley Kpoku" userId="dd4bb83065c01be3" providerId="LiveId" clId="{89AC70A3-F0E5-4EC4-B824-4614FF064502}" dt="2026-10-01T21:03:58.127" v="19" actId="20577"/>
          <ac:spMkLst>
            <pc:docMk/>
            <pc:sldMk cId="0" sldId="264"/>
            <ac:spMk id="16" creationId="{00000000-0000-0000-0000-000000000000}"/>
          </ac:spMkLst>
        </pc:spChg>
      </pc:sldChg>
      <pc:sldChg chg="modSp mod">
        <pc:chgData name="Kingsley Kpoku" userId="dd4bb83065c01be3" providerId="LiveId" clId="{89AC70A3-F0E5-4EC4-B824-4614FF064502}" dt="2026-10-01T21:05:24.398" v="25" actId="1076"/>
        <pc:sldMkLst>
          <pc:docMk/>
          <pc:sldMk cId="0" sldId="265"/>
        </pc:sldMkLst>
        <pc:spChg chg="mod">
          <ac:chgData name="Kingsley Kpoku" userId="dd4bb83065c01be3" providerId="LiveId" clId="{89AC70A3-F0E5-4EC4-B824-4614FF064502}" dt="2026-10-01T21:05:24.398" v="25" actId="1076"/>
          <ac:spMkLst>
            <pc:docMk/>
            <pc:sldMk cId="0" sldId="265"/>
            <ac:spMk id="5" creationId="{00000000-0000-0000-0000-000000000000}"/>
          </ac:spMkLst>
        </pc:spChg>
      </pc:sldChg>
      <pc:sldChg chg="del">
        <pc:chgData name="Kingsley Kpoku" userId="dd4bb83065c01be3" providerId="LiveId" clId="{89AC70A3-F0E5-4EC4-B824-4614FF064502}" dt="2026-10-01T21:04:22.594" v="21" actId="47"/>
        <pc:sldMkLst>
          <pc:docMk/>
          <pc:sldMk cId="0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850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project. The assignment uses time-series data for Tesla and NVIDIA and applies window functions in R to calculate a year-to-date average and a six-day moving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setup. Packages are installed once in the RStudio Console, but the R Markdown document only loads them with library(). After import, dates are converted to Date format and observations are sorted by stock and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a simple example. If prices are 100, 110, 120, and 130, the cumulative averages are 100, 105, 110, and 115. When the year changes, the calculation restarts. group_by(item, year) and cummean(price) implement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slide_dbl. The current day is included, and .before = 5 adds five previous observations. That gives six observations. .complete = TRUE means R does not calculate partial windows, so the first five observations have NA for this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actual graph. NVDA is on the left and TSLA is on the right. The dotted line is actual price and the solid line is the six-day moving average. The moving average is smoother because it averages six trading observations.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Conclude by connecting the work to the assignment. I used two time series, calculated a cumulative YTD average and a six-day rolling average, and visualized the results. The main takeaway is how window functions support time-series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the viewer. If required, briefly explain that AI was used as a supporting tool and that the final code and analytical suggestions were reviewed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731520"/>
            <a:ext cx="1371600" cy="1371600"/>
          </a:xfrm>
          <a:prstGeom prst="ellipse">
            <a:avLst/>
          </a:prstGeom>
          <a:solidFill>
            <a:srgbClr val="30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1645920"/>
            <a:ext cx="822960" cy="822960"/>
          </a:xfrm>
          <a:prstGeom prst="ellipse">
            <a:avLst/>
          </a:prstGeom>
          <a:solidFill>
            <a:srgbClr val="009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4937760"/>
            <a:ext cx="2011680" cy="2011680"/>
          </a:xfrm>
          <a:prstGeom prst="ellipse">
            <a:avLst/>
          </a:prstGeom>
          <a:solidFill>
            <a:srgbClr val="009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WINDOW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>
                <a:solidFill>
                  <a:srgbClr val="DCE4F2"/>
                </a:solidFill>
              </a:rPr>
              <a:t>Analyzing Tesla (TSLA) and NVIDIA (NVDA) stock prices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009EA0"/>
                </a:solidFill>
              </a:rPr>
              <a:t>Explainer Video • R • Time-Series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F34"/>
                </a:solidFill>
                <a:latin typeface="Aptos Display"/>
              </a:rPr>
              <a:t>3. Import and prepare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C697D"/>
                </a:solidFill>
                <a:latin typeface="Aptos"/>
              </a:rPr>
              <a:t>Make sure R understands the Excel files and the 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94960" cy="2240280"/>
          </a:xfrm>
          <a:prstGeom prst="roundRect">
            <a:avLst/>
          </a:prstGeom>
          <a:solidFill>
            <a:srgbClr val="141F34"/>
          </a:solidFill>
          <a:ln>
            <a:solidFill>
              <a:srgbClr val="30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554480"/>
            <a:ext cx="502920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onsolas"/>
              </a:rPr>
              <a:t>library(readxl)
library(dplyr)
library(lubridate)
library(slider)
library(ggplot2)
tsla &lt;- read_excel("TSLA.xlsx")
nvda &lt;- read_excel("NVIDIA.xlsx")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77639"/>
            <a:ext cx="5394960" cy="1325880"/>
          </a:xfrm>
          <a:prstGeom prst="roundRect">
            <a:avLst/>
          </a:prstGeom>
          <a:solidFill>
            <a:srgbClr val="141F34"/>
          </a:solidFill>
          <a:ln>
            <a:solidFill>
              <a:srgbClr val="00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4114800"/>
            <a:ext cx="50292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nsolas"/>
              </a:rPr>
              <a:t>stock_data &lt;- stock_data %&gt;%
  mutate(date = as.Date(date)) %&gt;%
  arrange(item, date)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7D"/>
                </a:solidFill>
              </a:rPr>
              <a:t>Window Functions • TSLA + NVDA |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F34"/>
                </a:solidFill>
                <a:latin typeface="Aptos Display"/>
              </a:rPr>
              <a:t>5. Year-to-Date average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C697D"/>
                </a:solidFill>
                <a:latin typeface="Aptos"/>
              </a:rPr>
              <a:t>YTD means: average from the beginning of the year up to the current date.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6400800" cy="2103120"/>
          </a:xfrm>
          <a:prstGeom prst="roundRect">
            <a:avLst/>
          </a:prstGeom>
          <a:solidFill>
            <a:srgbClr val="141F34"/>
          </a:solidFill>
          <a:ln>
            <a:solidFill>
              <a:srgbClr val="30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19"/>
            <a:ext cx="6035040" cy="1828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onsolas"/>
              </a:rPr>
              <a:t>stock_data &lt;- stock_data %&gt;%
  group_by(item, year) %&gt;%
  mutate(
    ytd_average = cummean(price)
  ) %&gt;%
  ungroup()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508760"/>
            <a:ext cx="43434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52360" y="1508760"/>
            <a:ext cx="73152" cy="2103120"/>
          </a:xfrm>
          <a:prstGeom prst="rect">
            <a:avLst/>
          </a:prstGeom>
          <a:solidFill>
            <a:srgbClr val="009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1673351"/>
            <a:ext cx="35204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1F34"/>
                </a:solidFill>
              </a:rPr>
              <a:t>How to read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88936" y="2167128"/>
            <a:ext cx="4543728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 err="1">
                <a:solidFill>
                  <a:srgbClr val="5C697D"/>
                </a:solidFill>
              </a:rPr>
              <a:t>group_by</a:t>
            </a:r>
            <a:r>
              <a:rPr sz="1300" dirty="0">
                <a:solidFill>
                  <a:srgbClr val="5C697D"/>
                </a:solidFill>
              </a:rPr>
              <a:t>(item, year) keeps TSLA and NVDA </a:t>
            </a:r>
            <a:endParaRPr lang="en-US" sz="1300" dirty="0">
              <a:solidFill>
                <a:srgbClr val="5C697D"/>
              </a:solidFill>
            </a:endParaRPr>
          </a:p>
          <a:p>
            <a:r>
              <a:rPr sz="1300" dirty="0">
                <a:solidFill>
                  <a:srgbClr val="5C697D"/>
                </a:solidFill>
              </a:rPr>
              <a:t>separate and restarts the cumulative calculation each year. </a:t>
            </a:r>
            <a:endParaRPr lang="en-US" sz="1300" dirty="0">
              <a:solidFill>
                <a:srgbClr val="5C697D"/>
              </a:solidFill>
            </a:endParaRPr>
          </a:p>
          <a:p>
            <a:r>
              <a:rPr sz="1300" dirty="0" err="1">
                <a:solidFill>
                  <a:srgbClr val="5C697D"/>
                </a:solidFill>
              </a:rPr>
              <a:t>cummean</a:t>
            </a:r>
            <a:r>
              <a:rPr sz="1300" dirty="0">
                <a:solidFill>
                  <a:srgbClr val="5C697D"/>
                </a:solidFill>
              </a:rPr>
              <a:t>(price) updates the average as time moves forward.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41F34"/>
                </a:solidFill>
              </a:rPr>
              <a:t>Example: 100 → 110 → 120 → 130  |  YTD averages: 100 → 105 → 110 → 115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7D"/>
                </a:solidFill>
              </a:rPr>
              <a:t>Window Functions • TSLA + NVDA |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F34"/>
                </a:solidFill>
                <a:latin typeface="Aptos Display"/>
              </a:rPr>
              <a:t>6. Six-day moving average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C697D"/>
                </a:solidFill>
                <a:latin typeface="Aptos"/>
              </a:rPr>
              <a:t>Today + the previous five trading days = a six-day window.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760720" cy="2468880"/>
          </a:xfrm>
          <a:prstGeom prst="roundRect">
            <a:avLst/>
          </a:prstGeom>
          <a:solidFill>
            <a:srgbClr val="141F34"/>
          </a:solidFill>
          <a:ln>
            <a:solidFill>
              <a:srgbClr val="00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5394959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onsolas"/>
              </a:rPr>
              <a:t>stock_data &lt;- stock_data %&gt;%
  group_by(item) %&gt;%
  mutate(
    six_day_average = slide_dbl(
      price, mean,
      .before = 5,
      .complete = TRUE
    )
  ) %&gt;%
  ungroup()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920240"/>
            <a:ext cx="548640" cy="594360"/>
          </a:xfrm>
          <a:prstGeom prst="roundRect">
            <a:avLst/>
          </a:prstGeom>
          <a:solidFill>
            <a:srgbClr val="30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03720" y="2084831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920240"/>
            <a:ext cx="548640" cy="594360"/>
          </a:xfrm>
          <a:prstGeom prst="roundRect">
            <a:avLst/>
          </a:prstGeom>
          <a:solidFill>
            <a:srgbClr val="30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0" y="2084831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920240"/>
            <a:ext cx="548640" cy="594360"/>
          </a:xfrm>
          <a:prstGeom prst="roundRect">
            <a:avLst/>
          </a:prstGeom>
          <a:solidFill>
            <a:srgbClr val="30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2084831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920240"/>
            <a:ext cx="548640" cy="594360"/>
          </a:xfrm>
          <a:prstGeom prst="roundRect">
            <a:avLst/>
          </a:prstGeom>
          <a:solidFill>
            <a:srgbClr val="30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0" y="2084831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20" y="1920240"/>
            <a:ext cx="548640" cy="594360"/>
          </a:xfrm>
          <a:prstGeom prst="roundRect">
            <a:avLst/>
          </a:prstGeom>
          <a:solidFill>
            <a:srgbClr val="30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46920" y="2084831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0" y="1920240"/>
            <a:ext cx="548640" cy="594360"/>
          </a:xfrm>
          <a:prstGeom prst="roundRect">
            <a:avLst/>
          </a:prstGeom>
          <a:solidFill>
            <a:srgbClr val="30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20" y="2084831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69748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5C697D"/>
                </a:solidFill>
              </a:rPr>
              <a:t>The window moves forward one observation at a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25196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" y="4251960"/>
            <a:ext cx="73152" cy="1280160"/>
          </a:xfrm>
          <a:prstGeom prst="rect">
            <a:avLst/>
          </a:prstGeom>
          <a:solidFill>
            <a:srgbClr val="EB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441655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1F34"/>
                </a:solidFill>
              </a:rPr>
              <a:t>.before =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910328"/>
            <a:ext cx="4754880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97D"/>
                </a:solidFill>
              </a:rPr>
              <a:t>Current observation + five previous observations = six total.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4251960"/>
            <a:ext cx="48006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46520" y="4251960"/>
            <a:ext cx="73152" cy="1280160"/>
          </a:xfrm>
          <a:prstGeom prst="rect">
            <a:avLst/>
          </a:prstGeom>
          <a:solidFill>
            <a:srgbClr val="30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4416552"/>
            <a:ext cx="4389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1F34"/>
                </a:solidFill>
              </a:rPr>
              <a:t>.complete = TRUE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910328"/>
            <a:ext cx="444121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5C697D"/>
                </a:solidFill>
              </a:rPr>
              <a:t>The first five rows wait until a complete six-day window exists, </a:t>
            </a:r>
            <a:endParaRPr lang="en-US" sz="1300" dirty="0">
              <a:solidFill>
                <a:srgbClr val="5C697D"/>
              </a:solidFill>
            </a:endParaRPr>
          </a:p>
          <a:p>
            <a:r>
              <a:rPr sz="1300" dirty="0">
                <a:solidFill>
                  <a:srgbClr val="5C697D"/>
                </a:solidFill>
              </a:rPr>
              <a:t>so they are NA.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7D"/>
                </a:solidFill>
              </a:rPr>
              <a:t>Window Functions • TSLA + NVDA |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F34"/>
                </a:solidFill>
                <a:latin typeface="Aptos Display"/>
              </a:rPr>
              <a:t>7. Visualization: what does the graph show?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C697D"/>
                </a:solidFill>
                <a:latin typeface="Aptos"/>
              </a:rPr>
              <a:t>The moving average smooths short-term daily fluctuations.</a:t>
            </a:r>
          </a:p>
        </p:txBody>
      </p:sp>
      <p:pic>
        <p:nvPicPr>
          <p:cNvPr id="5" name="Picture 4" descr="4f32dd21-ad30-4026-b469-6ba6441d82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7635240" cy="5120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1417320"/>
            <a:ext cx="3322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66760" y="1417320"/>
            <a:ext cx="73152" cy="1325880"/>
          </a:xfrm>
          <a:prstGeom prst="rect">
            <a:avLst/>
          </a:prstGeom>
          <a:solidFill>
            <a:srgbClr val="009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0" y="1581912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1F34"/>
                </a:solidFill>
              </a:rPr>
              <a:t>NVDA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075688"/>
            <a:ext cx="265662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5C697D"/>
                </a:solidFill>
              </a:rPr>
              <a:t>Left panel: NVIDIA actual prices and </a:t>
            </a:r>
            <a:endParaRPr lang="en-US" sz="1300" dirty="0">
              <a:solidFill>
                <a:srgbClr val="5C697D"/>
              </a:solidFill>
            </a:endParaRPr>
          </a:p>
          <a:p>
            <a:r>
              <a:rPr sz="1300" dirty="0">
                <a:solidFill>
                  <a:srgbClr val="5C697D"/>
                </a:solidFill>
              </a:rPr>
              <a:t>six-day moving average.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2971800"/>
            <a:ext cx="3322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366760" y="2971800"/>
            <a:ext cx="73152" cy="1325880"/>
          </a:xfrm>
          <a:prstGeom prst="rect">
            <a:avLst/>
          </a:prstGeom>
          <a:solidFill>
            <a:srgbClr val="30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0" y="3136392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1F34"/>
                </a:solidFill>
              </a:rPr>
              <a:t>TSLA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630168"/>
            <a:ext cx="260604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5C697D"/>
                </a:solidFill>
              </a:rPr>
              <a:t>Right panel: Tesla actual prices and </a:t>
            </a:r>
            <a:endParaRPr lang="en-US" sz="1300" dirty="0">
              <a:solidFill>
                <a:srgbClr val="5C697D"/>
              </a:solidFill>
            </a:endParaRPr>
          </a:p>
          <a:p>
            <a:r>
              <a:rPr sz="1300" dirty="0">
                <a:solidFill>
                  <a:srgbClr val="5C697D"/>
                </a:solidFill>
              </a:rPr>
              <a:t>six-day moving average.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4526280"/>
            <a:ext cx="3322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66760" y="4526280"/>
            <a:ext cx="73152" cy="1234440"/>
          </a:xfrm>
          <a:prstGeom prst="rect">
            <a:avLst/>
          </a:prstGeom>
          <a:solidFill>
            <a:srgbClr val="EB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4690872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1F34"/>
                </a:solidFill>
              </a:rPr>
              <a:t>Main 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5184648"/>
            <a:ext cx="302191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5C697D"/>
                </a:solidFill>
              </a:rPr>
              <a:t>The moving average is smoother because </a:t>
            </a:r>
            <a:endParaRPr lang="en-US" sz="1300" dirty="0">
              <a:solidFill>
                <a:srgbClr val="5C697D"/>
              </a:solidFill>
            </a:endParaRPr>
          </a:p>
          <a:p>
            <a:r>
              <a:rPr sz="1300" dirty="0">
                <a:solidFill>
                  <a:srgbClr val="5C697D"/>
                </a:solidFill>
              </a:rPr>
              <a:t>it uses six observations.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7D"/>
                </a:solidFill>
              </a:rPr>
              <a:t>Window Functions • TSLA + NVDA |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F34"/>
                </a:solidFill>
                <a:latin typeface="Aptos Display"/>
              </a:rPr>
              <a:t>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C697D"/>
                </a:solidFill>
                <a:latin typeface="Aptos"/>
              </a:rPr>
              <a:t>Window functions turn daily stock data into useful time-based measures.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746504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 dirty="0">
                <a:solidFill>
                  <a:srgbClr val="141F34"/>
                </a:solidFill>
              </a:rPr>
              <a:t>TSLA + NVDA → clean time series → YTD + 6-day windows →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875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2272E"/>
                </a:solidFill>
              </a:defRPr>
            </a:pPr>
            <a:r>
              <a:t>• I used R to work with two separate stock time series.</a:t>
            </a:r>
          </a:p>
          <a:p>
            <a:pPr>
              <a:spcAft>
                <a:spcPts val="900"/>
              </a:spcAft>
              <a:defRPr sz="1800">
                <a:solidFill>
                  <a:srgbClr val="22272E"/>
                </a:solidFill>
              </a:defRPr>
            </a:pPr>
            <a:r>
              <a:t>• The YTD average provided a cumulative measure within each year.</a:t>
            </a:r>
          </a:p>
          <a:p>
            <a:pPr>
              <a:spcAft>
                <a:spcPts val="900"/>
              </a:spcAft>
              <a:defRPr sz="1800">
                <a:solidFill>
                  <a:srgbClr val="22272E"/>
                </a:solidFill>
              </a:defRPr>
            </a:pPr>
            <a:r>
              <a:t>• The six-day moving average provided a short-term smoothed measure.</a:t>
            </a:r>
          </a:p>
          <a:p>
            <a:pPr>
              <a:spcAft>
                <a:spcPts val="900"/>
              </a:spcAft>
              <a:defRPr sz="1800">
                <a:solidFill>
                  <a:srgbClr val="22272E"/>
                </a:solidFill>
              </a:defRPr>
            </a:pPr>
            <a:r>
              <a:t>• The project helped me understand how window functions can be applied to time-series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7D"/>
                </a:solidFill>
              </a:rPr>
              <a:t>Window Functions • TSLA + NVDA |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DCE4F2"/>
                </a:solidFill>
              </a:rPr>
              <a:t>Window Functions with Tesla (TSLA) and NVIDIA (NVDA)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3749039"/>
            <a:ext cx="6675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0" y="3749039"/>
            <a:ext cx="73152" cy="1325880"/>
          </a:xfrm>
          <a:prstGeom prst="rect">
            <a:avLst/>
          </a:prstGeom>
          <a:solidFill>
            <a:srgbClr val="009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71800" y="3913631"/>
            <a:ext cx="6263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1F34"/>
                </a:solidFill>
              </a:rPr>
              <a:t>AI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4407407"/>
            <a:ext cx="62179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97D"/>
                </a:solidFill>
              </a:rPr>
              <a:t>ChatGPT was used as a supporting tool to assist with data analysis, R coding, and visualization development. All AI-generated code and analytical suggestions were reviewed, tested, and monitored by 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884</Words>
  <Application>Microsoft Office PowerPoint</Application>
  <PresentationFormat>Widescreen</PresentationFormat>
  <Paragraphs>64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Kingsley Kpoku</cp:lastModifiedBy>
  <cp:revision>1</cp:revision>
  <dcterms:created xsi:type="dcterms:W3CDTF">2013-01-27T09:14:16Z</dcterms:created>
  <dcterms:modified xsi:type="dcterms:W3CDTF">2026-10-01T21:20:00Z</dcterms:modified>
  <cp:category/>
</cp:coreProperties>
</file>