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6EB4"/>
                </a:solidFill>
                <a:latin typeface="Aptos"/>
              </a:rPr>
              <a:t>WEEK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863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1F37"/>
                </a:solidFill>
                <a:latin typeface="Aptos"/>
              </a:rPr>
              <a:t>Evaluating Classification</a:t>
            </a:r>
            <a:br/>
            <a:r>
              <a:rPr sz="3400" b="1">
                <a:solidFill>
                  <a:srgbClr val="141F37"/>
                </a:solidFill>
                <a:latin typeface="Aptos"/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8036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97382"/>
                </a:solidFill>
                <a:latin typeface="Aptos"/>
              </a:rPr>
              <a:t>Explainer Video • Binary Classification • Thresholds • Confusion Matrices</a:t>
            </a:r>
          </a:p>
        </p:txBody>
      </p:sp>
      <p:sp>
        <p:nvSpPr>
          <p:cNvPr id="6" name="Oval 5"/>
          <p:cNvSpPr/>
          <p:nvPr/>
        </p:nvSpPr>
        <p:spPr>
          <a:xfrm>
            <a:off x="7955279" y="2"/>
            <a:ext cx="1051560" cy="1051560"/>
          </a:xfrm>
          <a:prstGeom prst="ellipse">
            <a:avLst/>
          </a:prstGeom>
          <a:solidFill>
            <a:srgbClr val="3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9559" y="218541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PROBABILITY</a:t>
            </a:r>
          </a:p>
        </p:txBody>
      </p:sp>
      <p:sp>
        <p:nvSpPr>
          <p:cNvPr id="8" name="Oval 7"/>
          <p:cNvSpPr/>
          <p:nvPr/>
        </p:nvSpPr>
        <p:spPr>
          <a:xfrm>
            <a:off x="9281160" y="2"/>
            <a:ext cx="1051560" cy="1051560"/>
          </a:xfrm>
          <a:prstGeom prst="ellipse">
            <a:avLst/>
          </a:prstGeom>
          <a:solidFill>
            <a:srgbClr val="37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0" y="218541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THRESHOLD</a:t>
            </a:r>
          </a:p>
        </p:txBody>
      </p:sp>
      <p:sp>
        <p:nvSpPr>
          <p:cNvPr id="10" name="Oval 9"/>
          <p:cNvSpPr/>
          <p:nvPr/>
        </p:nvSpPr>
        <p:spPr>
          <a:xfrm>
            <a:off x="10561320" y="2"/>
            <a:ext cx="1051560" cy="1051560"/>
          </a:xfrm>
          <a:prstGeom prst="ellipse">
            <a:avLst/>
          </a:prstGeom>
          <a:solidFill>
            <a:srgbClr val="E6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0" y="218541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382"/>
                </a:solidFill>
                <a:latin typeface="Aptos"/>
              </a:rPr>
              <a:t>Kingsley Kojo Kpoku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1. What is the goal?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model is already built. My job is to evaluate how well it classifies penguins.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55448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6EB4"/>
                </a:solidFill>
                <a:latin typeface="Aptos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84248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The model gives a probability:</a:t>
            </a:r>
            <a:br/>
            <a:br/>
            <a:r>
              <a:rPr sz="1300" b="0">
                <a:solidFill>
                  <a:srgbClr val="2D3441"/>
                </a:solidFill>
                <a:latin typeface="Aptos"/>
              </a:rPr>
              <a:t>“.pred_female” = probability that a penguin is female.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9691"/>
                </a:solidFill>
                <a:latin typeface="Aptos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84248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A threshold turns the probability into a class:</a:t>
            </a:r>
            <a:br/>
            <a:br/>
            <a:r>
              <a:rPr sz="1300" b="0">
                <a:solidFill>
                  <a:srgbClr val="2D3441"/>
                </a:solidFill>
                <a:latin typeface="Aptos"/>
              </a:rPr>
              <a:t>Above threshold → Female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Below threshold → Not Female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38328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55448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84248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Does changing the threshold change the model’s performance?</a:t>
            </a:r>
            <a:br/>
            <a:br/>
            <a:r>
              <a:rPr sz="1300" b="0">
                <a:solidFill>
                  <a:srgbClr val="2D3441"/>
                </a:solidFill>
                <a:latin typeface="Aptos"/>
              </a:rPr>
              <a:t>That is the main idea of this assignment.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2. Start with the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Before judging the model, I need something simple to compare it against.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6EB4"/>
                </a:solidFill>
                <a:latin typeface="Aptos"/>
              </a:rPr>
              <a:t>NULL ERROR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41F37"/>
                </a:solidFill>
                <a:latin typeface="Aptos"/>
              </a:rPr>
              <a:t>41.9%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441"/>
                </a:solidFill>
                <a:latin typeface="Aptos"/>
              </a:rPr>
              <a:t>If I always predicted the majority class, I would be wrong about 41.9% of the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61264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85231" y="1508760"/>
            <a:ext cx="5797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SIMPLE MAJORITY GUESS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231" y="1938528"/>
            <a:ext cx="5797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41.9%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246120"/>
            <a:ext cx="61264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5231" y="3383279"/>
            <a:ext cx="5797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9691"/>
                </a:solidFill>
                <a:latin typeface="Aptos"/>
              </a:rPr>
              <a:t>REAL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3813048"/>
            <a:ext cx="5797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Compare its error and performance against the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DE4CFA-73DA-543B-78F6-84E22AED149D}"/>
              </a:ext>
            </a:extLst>
          </p:cNvPr>
          <p:cNvSpPr txBox="1"/>
          <p:nvPr/>
        </p:nvSpPr>
        <p:spPr>
          <a:xfrm>
            <a:off x="2286000" y="292608"/>
            <a:ext cx="503834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CODE BASE – NULL ERROR RATE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85903-1311-F010-4EBE-EC60D7FBE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999554"/>
            <a:ext cx="9381744" cy="464229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365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3. Probability → threshold →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same probability can lead to different decisions depending on the threshold.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100584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0" y="1508760"/>
            <a:ext cx="32004" cy="1234440"/>
          </a:xfrm>
          <a:prstGeom prst="rect">
            <a:avLst/>
          </a:prstGeom>
          <a:solidFill>
            <a:srgbClr val="3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76EB4"/>
                </a:solidFill>
                <a:latin typeface="Aptos"/>
              </a:rPr>
              <a:t>0.2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08760"/>
            <a:ext cx="32004" cy="1234440"/>
          </a:xfrm>
          <a:prstGeom prst="rect">
            <a:avLst/>
          </a:prstGeom>
          <a:solidFill>
            <a:srgbClr val="37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79691"/>
                </a:solidFill>
                <a:latin typeface="Aptos"/>
              </a:rPr>
              <a:t>0.5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508760"/>
            <a:ext cx="32004" cy="1234440"/>
          </a:xfrm>
          <a:prstGeom prst="rect">
            <a:avLst/>
          </a:prstGeom>
          <a:solidFill>
            <a:srgbClr val="E6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913C"/>
                </a:solidFill>
                <a:latin typeface="Aptos"/>
              </a:rPr>
              <a:t>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611879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6EB4"/>
                </a:solidFill>
                <a:latin typeface="Aptos"/>
              </a:rPr>
              <a:t>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41648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More positive predictions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74720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3712" y="3611879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9691"/>
                </a:solidFill>
                <a:latin typeface="Aptos"/>
              </a:rP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041648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Middle decision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474720"/>
            <a:ext cx="3383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3611879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041648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Fewer positive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4. The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Every prediction falls into one of four boxes.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9377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39"/>
            <a:ext cx="4608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B965F"/>
                </a:solidFill>
                <a:latin typeface="Aptos"/>
              </a:rPr>
              <a:t>TRUE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21408"/>
            <a:ext cx="46085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Predicted female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Actually female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49377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691639"/>
            <a:ext cx="4608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FALSE POSITIVE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121408"/>
            <a:ext cx="46085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Predicted female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Actually male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39"/>
            <a:ext cx="49377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886200"/>
            <a:ext cx="4608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FALSE 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315968"/>
            <a:ext cx="46085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Predicted not female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Actually female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4937760" cy="17373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3886200"/>
            <a:ext cx="4608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6EB4"/>
                </a:solidFill>
                <a:latin typeface="Aptos"/>
              </a:rPr>
              <a:t>TRUE 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15968"/>
            <a:ext cx="46085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Predicted not female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Actually male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5. My 0.8 threshold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At the 0.8 threshold, the model produced these four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54480"/>
            <a:ext cx="4745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B965F"/>
                </a:solidFill>
                <a:latin typeface="Aptos"/>
              </a:rPr>
              <a:t>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474573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36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Correctly predicted female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0749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1554480"/>
            <a:ext cx="4745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FP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84248"/>
            <a:ext cx="474573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2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Predicted female, actually male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50749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794760"/>
            <a:ext cx="4745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6EB4"/>
                </a:solidFill>
                <a:latin typeface="Aptos"/>
              </a:rPr>
              <a:t>TN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224528"/>
            <a:ext cx="474573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52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Correctly predicted male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57600"/>
            <a:ext cx="50749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794760"/>
            <a:ext cx="4745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4224528"/>
            <a:ext cx="4745736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3</a:t>
            </a:r>
            <a:br/>
            <a:r>
              <a:rPr sz="1300" b="0">
                <a:solidFill>
                  <a:srgbClr val="2D3441"/>
                </a:solidFill>
                <a:latin typeface="Aptos"/>
              </a:rPr>
              <a:t>Predicted male, actually female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98932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F37"/>
                </a:solidFill>
                <a:latin typeface="Aptos"/>
              </a:rPr>
              <a:t>Total observations = 36 + 2 + 52 + 3 = 93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71B1F-98FC-1080-44FD-D04C84A52232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 BASE – 0.8 Threshold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41CD1-F733-9342-AEC9-796278A0B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548641"/>
            <a:ext cx="6780700" cy="513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5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6. Turn the four boxes into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metrics summarize different aspects of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60604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087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6EB4"/>
                </a:solidFill>
                <a:latin typeface="Aptos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22768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How often was the model correct?</a:t>
            </a:r>
            <a:br/>
            <a:br/>
            <a:r>
              <a:rPr sz="1300" b="0">
                <a:solidFill>
                  <a:srgbClr val="2D3441"/>
                </a:solidFill>
                <a:latin typeface="Aptos"/>
              </a:rPr>
              <a:t>(TP + TN) /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0604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5087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9691"/>
                </a:solidFill>
                <a:latin typeface="Aptos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938528"/>
            <a:ext cx="22768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When the model predicted female, how often was it right?</a:t>
            </a:r>
            <a:br/>
            <a:br/>
            <a:r>
              <a:rPr sz="1300" b="0">
                <a:solidFill>
                  <a:srgbClr val="2D3441"/>
                </a:solidFill>
                <a:latin typeface="Aptos"/>
              </a:rPr>
              <a:t>TP / (TP + FP)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260604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38528"/>
            <a:ext cx="22768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How many actual females did the model find?</a:t>
            </a:r>
            <a:br/>
            <a:br/>
            <a:r>
              <a:rPr sz="1300" b="0">
                <a:solidFill>
                  <a:srgbClr val="2D3441"/>
                </a:solidFill>
                <a:latin typeface="Aptos"/>
              </a:rPr>
              <a:t>TP / (TP + FN)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606040" cy="4114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150876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B965F"/>
                </a:solidFill>
                <a:latin typeface="Aptos"/>
              </a:rPr>
              <a:t>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1938528"/>
            <a:ext cx="22768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Balances precision and recall.</a:t>
            </a:r>
            <a:br/>
            <a:br/>
            <a:r>
              <a:rPr sz="1300" b="0">
                <a:solidFill>
                  <a:srgbClr val="2D3441"/>
                </a:solidFill>
                <a:latin typeface="Aptos"/>
              </a:rPr>
              <a:t>2 × (P × R) / (P + 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7. My 0.8 threshold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Using the 0.8 confusion-matrix values: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40" y="1485901"/>
            <a:ext cx="251460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6EB4"/>
                </a:solidFill>
                <a:latin typeface="Aptos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41F37"/>
                </a:solidFill>
                <a:latin typeface="Aptos"/>
              </a:rPr>
              <a:t>94.62%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9480" y="1608038"/>
            <a:ext cx="251460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9691"/>
                </a:solidFill>
                <a:latin typeface="Aptos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97480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41F37"/>
                </a:solidFill>
                <a:latin typeface="Aptos"/>
              </a:rPr>
              <a:t>94.74%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880" y="1608038"/>
            <a:ext cx="251460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13C"/>
                </a:solidFill>
                <a:latin typeface="Apto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41F37"/>
                </a:solidFill>
                <a:latin typeface="Aptos"/>
              </a:rPr>
              <a:t>92.31%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48168"/>
            <a:ext cx="251460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B965F"/>
                </a:solidFill>
                <a:latin typeface="Aptos"/>
              </a:rPr>
              <a:t>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697480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41F37"/>
                </a:solidFill>
                <a:latin typeface="Aptos"/>
              </a:rPr>
              <a:t>93.51%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6636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D3441"/>
                </a:solidFill>
                <a:latin typeface="Aptos"/>
              </a:rPr>
              <a:t>These metrics describe different parts of model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8. Compare the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assignment evaluates 0.2, 0.5, and 0.8 to show the threshold trade-off.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914400" cy="411480"/>
          </a:xfrm>
          <a:prstGeom prst="roundRect">
            <a:avLst/>
          </a:prstGeom>
          <a:solidFill>
            <a:srgbClr val="3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0.2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246120" cy="24688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6EB4"/>
                </a:solidFill>
                <a:latin typeface="Aptos"/>
              </a:rPr>
              <a:t>Lower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24328"/>
            <a:ext cx="291693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More positive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914400" cy="411480"/>
          </a:xfrm>
          <a:prstGeom prst="roundRect">
            <a:avLst/>
          </a:prstGeom>
          <a:solidFill>
            <a:srgbClr val="37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246120" cy="24688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2194560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9691"/>
                </a:solidFill>
                <a:latin typeface="Aptos"/>
              </a:rPr>
              <a:t>Middle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24328"/>
            <a:ext cx="291693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Reference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914400" cy="411480"/>
          </a:xfrm>
          <a:prstGeom prst="roundRect">
            <a:avLst/>
          </a:prstGeom>
          <a:solidFill>
            <a:srgbClr val="E6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0.8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057400"/>
            <a:ext cx="3246120" cy="24688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2194560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Higher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624328"/>
            <a:ext cx="291693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Fewer positive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57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F37"/>
                </a:solidFill>
                <a:latin typeface="Aptos"/>
              </a:rPr>
              <a:t>Changing the threshold changes what counts as an error.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9. Real-world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appropriate threshold depends on what type of mistake matters most.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6EB4"/>
                </a:solidFill>
                <a:latin typeface="Aptos"/>
              </a:rPr>
              <a:t>WHEN 0.2 CAN BE USEFUL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4837176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If missing a positive case is costly, a lower threshold can help identify more possible positive cases — even though it may create more false positives.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663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600200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913C"/>
                </a:solidFill>
                <a:latin typeface="Aptos"/>
              </a:rPr>
              <a:t>WHEN 0.8 CAN BE USEFUL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837176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41"/>
                </a:solidFill>
                <a:latin typeface="Aptos"/>
              </a:rPr>
              <a:t>If false positives are costly, a higher threshold can require stronger evidence before classifying an observation as positive.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53949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F37"/>
                </a:solidFill>
                <a:latin typeface="Aptos"/>
              </a:rPr>
              <a:t>There is no universally best threshold. Context matters.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F37"/>
                </a:solidFill>
                <a:latin typeface="Aptos"/>
              </a:rPr>
              <a:t>10.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What I learned from the analysis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1"/>
            <a:ext cx="685800" cy="685800"/>
          </a:xfrm>
          <a:prstGeom prst="ellipse">
            <a:avLst/>
          </a:prstGeom>
          <a:solidFill>
            <a:srgbClr val="37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5179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7"/>
                </a:solidFill>
                <a:latin typeface="Aptos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441"/>
                </a:solidFill>
                <a:latin typeface="Aptos"/>
              </a:rPr>
              <a:t>Null error rate = 41.9%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"/>
            <a:ext cx="685800" cy="685800"/>
          </a:xfrm>
          <a:prstGeom prst="ellipse">
            <a:avLst/>
          </a:prstGeom>
          <a:solidFill>
            <a:srgbClr val="37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39" y="15179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240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7"/>
                </a:solidFill>
                <a:latin typeface="Aptos"/>
              </a:rPr>
              <a:t>Thresholds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441"/>
                </a:solidFill>
                <a:latin typeface="Aptos"/>
              </a:rPr>
              <a:t>0.2, 0.5, and 0.8 change predictions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5852159" y="1"/>
            <a:ext cx="685800" cy="685800"/>
          </a:xfrm>
          <a:prstGeom prst="ellipse">
            <a:avLst/>
          </a:prstGeom>
          <a:solidFill>
            <a:srgbClr val="E6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59" y="15179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240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7"/>
                </a:solidFill>
                <a:latin typeface="Aptos"/>
              </a:rPr>
              <a:t>Confusion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441"/>
                </a:solidFill>
                <a:latin typeface="Aptos"/>
              </a:rPr>
              <a:t>TP, FP, TN, and FN show the errors</a:t>
            </a:r>
          </a:p>
        </p:txBody>
      </p:sp>
      <p:sp>
        <p:nvSpPr>
          <p:cNvPr id="17" name="Oval 16"/>
          <p:cNvSpPr/>
          <p:nvPr/>
        </p:nvSpPr>
        <p:spPr>
          <a:xfrm>
            <a:off x="8183879" y="1"/>
            <a:ext cx="685800" cy="685800"/>
          </a:xfrm>
          <a:prstGeom prst="ellipse">
            <a:avLst/>
          </a:prstGeom>
          <a:solidFill>
            <a:srgbClr val="4B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15179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240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7"/>
                </a:solidFill>
                <a:latin typeface="Aptos"/>
              </a:rPr>
              <a:t>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441"/>
                </a:solidFill>
                <a:latin typeface="Aptos"/>
              </a:rPr>
              <a:t>Accuracy, precision, recall, and F1 summarize performance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1"/>
            <a:ext cx="685800" cy="685800"/>
          </a:xfrm>
          <a:prstGeom prst="ellipse">
            <a:avLst/>
          </a:prstGeom>
          <a:solidFill>
            <a:srgbClr val="14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15179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240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7"/>
                </a:solidFill>
                <a:latin typeface="Aptos"/>
              </a:rPr>
              <a:t>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441"/>
                </a:solidFill>
                <a:latin typeface="Aptos"/>
              </a:rPr>
              <a:t>Threshold choice depends on model 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920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F37"/>
                </a:solidFill>
                <a:latin typeface="Aptos"/>
              </a:rPr>
              <a:t>The goal was not just to calculate numbers — it was to understand how a classification model behaves when the decision threshold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671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Kingsley Kpoku</dc:creator>
  <cp:keywords/>
  <dc:description>generated using python-pptx</dc:description>
  <cp:lastModifiedBy>Kingsley Kpoku</cp:lastModifiedBy>
  <cp:revision>2</cp:revision>
  <dcterms:created xsi:type="dcterms:W3CDTF">2013-01-27T09:14:16Z</dcterms:created>
  <dcterms:modified xsi:type="dcterms:W3CDTF">2026-09-30T17:04:33Z</dcterms:modified>
  <cp:category/>
</cp:coreProperties>
</file>